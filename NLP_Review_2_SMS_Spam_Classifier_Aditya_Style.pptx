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0" r:id="rId10"/>
    <p:sldId id="269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8"/>
  </p:normalViewPr>
  <p:slideViewPr>
    <p:cSldViewPr snapToGrid="0" snapToObjects="1">
      <p:cViewPr varScale="1">
        <p:scale>
          <a:sx n="84" d="100"/>
          <a:sy n="84" d="100"/>
        </p:scale>
        <p:origin x="54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6040" y="1417320"/>
            <a:ext cx="5669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46A00"/>
                </a:solidFill>
                <a:latin typeface="Georgia"/>
              </a:rPr>
              <a:t>SMS SPAM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2423160"/>
            <a:ext cx="6309360" cy="281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373737"/>
                </a:solidFill>
                <a:latin typeface="Georgia"/>
              </a:defRPr>
            </a:pPr>
            <a:r>
              <a:rPr lang="en-US" dirty="0"/>
              <a:t>NATURAL LANGUAGE PROCESSING PROJECT</a:t>
            </a:r>
            <a:endParaRPr dirty="0"/>
          </a:p>
          <a:p>
            <a:pPr algn="ctr">
              <a:spcAft>
                <a:spcPts val="700"/>
              </a:spcAft>
              <a:defRPr sz="1700" b="0">
                <a:solidFill>
                  <a:srgbClr val="373737"/>
                </a:solidFill>
                <a:latin typeface="Georgia"/>
              </a:defRPr>
            </a:pPr>
            <a:r>
              <a:rPr dirty="0"/>
              <a:t>BATCH NO: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dirty="0"/>
              <a:t> </a:t>
            </a:r>
            <a:endParaRPr lang="en-US" dirty="0"/>
          </a:p>
          <a:p>
            <a:pPr algn="ctr">
              <a:spcAft>
                <a:spcPts val="700"/>
              </a:spcAft>
              <a:defRPr sz="1700" b="0">
                <a:solidFill>
                  <a:srgbClr val="373737"/>
                </a:solidFill>
                <a:latin typeface="Georgia"/>
              </a:defRPr>
            </a:pPr>
            <a:endParaRPr lang="en-US" dirty="0"/>
          </a:p>
          <a:p>
            <a:pPr algn="ctr">
              <a:spcAft>
                <a:spcPts val="700"/>
              </a:spcAft>
              <a:defRPr sz="1700" b="0">
                <a:solidFill>
                  <a:srgbClr val="373737"/>
                </a:solidFill>
                <a:latin typeface="Georgia"/>
              </a:defRPr>
            </a:pPr>
            <a:r>
              <a:rPr dirty="0"/>
              <a:t>TEAM MEMBERS</a:t>
            </a:r>
            <a:r>
              <a:rPr lang="en-US" dirty="0"/>
              <a:t>:</a:t>
            </a:r>
            <a:endParaRPr dirty="0"/>
          </a:p>
          <a:p>
            <a:pPr algn="ctr">
              <a:spcAft>
                <a:spcPts val="700"/>
              </a:spcAft>
              <a:defRPr sz="1700" b="0">
                <a:solidFill>
                  <a:srgbClr val="373737"/>
                </a:solidFill>
                <a:latin typeface="Georgia"/>
              </a:defRPr>
            </a:pPr>
            <a:r>
              <a:rPr lang="en-US" dirty="0"/>
              <a:t> </a:t>
            </a:r>
            <a:r>
              <a:rPr dirty="0"/>
              <a:t>M. SYAM PRASAD –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25B21CS018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373737"/>
                </a:solidFill>
                <a:latin typeface="Georgia"/>
              </a:defRPr>
            </a:pPr>
            <a:r>
              <a:rPr lang="en-US" dirty="0"/>
              <a:t>  </a:t>
            </a:r>
            <a:r>
              <a:rPr dirty="0"/>
              <a:t>K. SAI RAHUL RAJ –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25B21CS043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373737"/>
                </a:solidFill>
                <a:latin typeface="Georgia"/>
              </a:defRPr>
            </a:pPr>
            <a:r>
              <a:rPr lang="en-US" dirty="0"/>
              <a:t>      </a:t>
            </a:r>
            <a:r>
              <a:rPr dirty="0"/>
              <a:t>M. NAGA ABHILASH –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24B11CS267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373737"/>
                </a:solidFill>
                <a:latin typeface="Georgia"/>
              </a:defRPr>
            </a:pPr>
            <a:r>
              <a:rPr lang="en-US" dirty="0"/>
              <a:t>          </a:t>
            </a:r>
            <a:r>
              <a:rPr dirty="0"/>
              <a:t>CH.V.SUDHEESH TEJA –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24B11CS063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205C4E-EE8A-D19F-AF46-B8F27972B391}"/>
              </a:ext>
            </a:extLst>
          </p:cNvPr>
          <p:cNvSpPr/>
          <p:nvPr/>
        </p:nvSpPr>
        <p:spPr>
          <a:xfrm>
            <a:off x="2743200" y="310896"/>
            <a:ext cx="5980176" cy="59436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CONTENTS</a:t>
            </a:r>
            <a:endParaRPr sz="2400" b="1" dirty="0">
              <a:solidFill>
                <a:srgbClr val="FFFFFF"/>
              </a:solidFill>
              <a:latin typeface="Georgia"/>
            </a:endParaRP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FFF1A9D-CF3C-95CF-E4D0-3964BBB1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2E7B043-E57E-25AB-70F1-E9959F5E2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1219200"/>
            <a:ext cx="10972800" cy="5257800"/>
          </a:xfrm>
          <a:prstGeom prst="rect">
            <a:avLst/>
          </a:prstGeom>
        </p:spPr>
        <p:txBody>
          <a:bodyPr vert="horz"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Workflow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Used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</a:p>
          <a:p>
            <a:pPr marL="107950" indent="0">
              <a:buFont typeface="Wingdings" pitchFamily="2" charset="2"/>
              <a:buNone/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Text Preprocessing/Preprocessing</a:t>
            </a:r>
          </a:p>
          <a:p>
            <a:pPr marL="107950" indent="0">
              <a:buFont typeface="Wingdings" pitchFamily="2" charset="2"/>
              <a:buNone/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Feature Extraction(Vector Representation)</a:t>
            </a:r>
          </a:p>
          <a:p>
            <a:pPr marL="107950" indent="0">
              <a:buFont typeface="Wingdings" pitchFamily="2" charset="2"/>
              <a:buNone/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Python Implementation(NLTK concepts)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/ ML Algorithm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Output/ Result</a:t>
            </a:r>
          </a:p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altLang="en-US"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94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A62F4A9-D223-38A6-26B2-505DF9431EED}"/>
              </a:ext>
            </a:extLst>
          </p:cNvPr>
          <p:cNvSpPr/>
          <p:nvPr/>
        </p:nvSpPr>
        <p:spPr>
          <a:xfrm>
            <a:off x="2743200" y="310896"/>
            <a:ext cx="5980176" cy="59436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B3289A5-754E-7655-EFB5-7D827ADC1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74CFD-9165-612C-FC9A-E4FEF1CC9C71}"/>
              </a:ext>
            </a:extLst>
          </p:cNvPr>
          <p:cNvSpPr txBox="1"/>
          <p:nvPr/>
        </p:nvSpPr>
        <p:spPr>
          <a:xfrm>
            <a:off x="753762" y="1173892"/>
            <a:ext cx="101943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SMS Spam Classifier</a:t>
            </a:r>
            <a:r>
              <a:rPr lang="en-IN" sz="2400" dirty="0"/>
              <a:t> is an </a:t>
            </a:r>
            <a:r>
              <a:rPr lang="en-IN" sz="2400" b="1" dirty="0"/>
              <a:t>NLP-based system</a:t>
            </a:r>
            <a:r>
              <a:rPr lang="en-IN" sz="2400" dirty="0"/>
              <a:t> designed to classify SMS messages into two categories: </a:t>
            </a:r>
            <a:r>
              <a:rPr lang="en-IN" sz="2400" b="1" dirty="0"/>
              <a:t>Spam</a:t>
            </a:r>
            <a:r>
              <a:rPr lang="en-IN" sz="2400" dirty="0"/>
              <a:t> and </a:t>
            </a:r>
            <a:r>
              <a:rPr lang="en-IN" sz="2400" b="1" dirty="0"/>
              <a:t>Ham</a:t>
            </a:r>
            <a:r>
              <a:rPr lang="en-IN" sz="2400" dirty="0"/>
              <a:t>. The system takes an SMS message as input and applies </a:t>
            </a:r>
            <a:r>
              <a:rPr lang="en-IN" sz="2400" b="1" dirty="0"/>
              <a:t>Natural Language Processing techniques</a:t>
            </a:r>
            <a:r>
              <a:rPr lang="en-IN" sz="2400" dirty="0"/>
              <a:t> to clean and prepare the text for analysis. This helps the system handle different words, sentence patterns, and message formats in a consistent way. The main goal is to automatically identify unwanted, promotional, or suspicious messages and distinguish them from genuine messages, thereby reducing the need for manual checking.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After preprocessing, the cleaned SMS text is converted into </a:t>
            </a:r>
            <a:r>
              <a:rPr lang="en-IN" sz="2400" b="1" dirty="0"/>
              <a:t>numerical feature vectors using TF-IDF (Term Frequency–Inverse Document Frequency)</a:t>
            </a:r>
            <a:r>
              <a:rPr lang="en-IN" sz="2400" dirty="0"/>
              <a:t>. These features represent the importance of words in the messages and are provided as input to a </a:t>
            </a:r>
            <a:r>
              <a:rPr lang="en-IN" sz="2400" b="1" dirty="0"/>
              <a:t>Machine Learning classification model</a:t>
            </a:r>
            <a:r>
              <a:rPr lang="en-IN" sz="2400" dirty="0"/>
              <a:t>. In our project, </a:t>
            </a:r>
            <a:r>
              <a:rPr lang="en-IN" sz="2400" b="1" dirty="0"/>
              <a:t>Multinomial Naive Bayes</a:t>
            </a:r>
            <a:r>
              <a:rPr lang="en-IN" sz="2400" dirty="0"/>
              <a:t> is used to classify the message as Spam or Ham. The system provides a simple and practical application of </a:t>
            </a:r>
            <a:r>
              <a:rPr lang="en-IN" sz="2400" b="1" dirty="0"/>
              <a:t>NLP and Machine Learning.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7538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3162DE-AA9D-6C33-663D-7D3377063EB6}"/>
              </a:ext>
            </a:extLst>
          </p:cNvPr>
          <p:cNvSpPr/>
          <p:nvPr/>
        </p:nvSpPr>
        <p:spPr>
          <a:xfrm>
            <a:off x="3105912" y="325230"/>
            <a:ext cx="5980176" cy="58398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27A75FA-93A7-22D4-7641-DDB4AED4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4CA7E-A9A4-7080-BCA3-B6882EAD5D0D}"/>
              </a:ext>
            </a:extLst>
          </p:cNvPr>
          <p:cNvSpPr txBox="1"/>
          <p:nvPr/>
        </p:nvSpPr>
        <p:spPr>
          <a:xfrm>
            <a:off x="929968" y="1426399"/>
            <a:ext cx="98977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Nowadays, users receive a large number of SMS messages, including </a:t>
            </a:r>
            <a:r>
              <a:rPr lang="en-IN" sz="2400" b="1" dirty="0"/>
              <a:t>promotional, unwanted, and suspicious messages</a:t>
            </a:r>
            <a:r>
              <a:rPr lang="en-IN" sz="2400" dirty="0"/>
              <a:t>. Manually checking every message to identify spam is </a:t>
            </a:r>
            <a:r>
              <a:rPr lang="en-IN" sz="2400" b="1" dirty="0"/>
              <a:t>time-consuming and difficult</a:t>
            </a:r>
            <a:r>
              <a:rPr lang="en-IN" sz="2400" dirty="0"/>
              <a:t>. Spam messages can contain different words, offers, links, and message patterns, which makes automatic identification challenging. Therefore, there is a need for a system that can </a:t>
            </a:r>
            <a:r>
              <a:rPr lang="en-IN" sz="2400" b="1" dirty="0"/>
              <a:t>automatically analyse SMS content and distinguish Spam messages from genuine (Ham) messages</a:t>
            </a:r>
            <a:r>
              <a:rPr lang="en-IN" sz="2400" dirty="0"/>
              <a:t>. The proposed </a:t>
            </a:r>
            <a:r>
              <a:rPr lang="en-IN" sz="2400" b="1" dirty="0"/>
              <a:t>SMS Spam Classifier</a:t>
            </a:r>
            <a:r>
              <a:rPr lang="en-IN" sz="2400" dirty="0"/>
              <a:t> addresses this problem by using </a:t>
            </a:r>
            <a:r>
              <a:rPr lang="en-IN" sz="2400" b="1" dirty="0"/>
              <a:t>Natural Language Processing (NLP) techniques and Machine Learning</a:t>
            </a:r>
            <a:r>
              <a:rPr lang="en-IN" sz="2400" dirty="0"/>
              <a:t> to analyse incoming SMS messages and classify them as </a:t>
            </a:r>
            <a:r>
              <a:rPr lang="en-IN" sz="2400" b="1" dirty="0"/>
              <a:t>Spam or Ham</a:t>
            </a:r>
            <a:r>
              <a:rPr lang="en-IN" sz="2400" dirty="0"/>
              <a:t>. This helps users identify unwanted messages more efficiently, reduce manual checking, and improve overall message management.</a:t>
            </a:r>
          </a:p>
        </p:txBody>
      </p:sp>
    </p:spTree>
    <p:extLst>
      <p:ext uri="{BB962C8B-B14F-4D97-AF65-F5344CB8AC3E}">
        <p14:creationId xmlns:p14="http://schemas.microsoft.com/office/powerpoint/2010/main" val="313359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F9563EE-1F25-91C3-C620-62ACD018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103AAB-D63A-09D1-25B1-D8ED222BA71A}"/>
              </a:ext>
            </a:extLst>
          </p:cNvPr>
          <p:cNvSpPr/>
          <p:nvPr/>
        </p:nvSpPr>
        <p:spPr>
          <a:xfrm>
            <a:off x="3105912" y="325230"/>
            <a:ext cx="5980176" cy="58398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49D3A-E1C5-81CE-E100-1871E52AEDCA}"/>
              </a:ext>
            </a:extLst>
          </p:cNvPr>
          <p:cNvSpPr txBox="1"/>
          <p:nvPr/>
        </p:nvSpPr>
        <p:spPr>
          <a:xfrm>
            <a:off x="667265" y="1720840"/>
            <a:ext cx="101325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proposed system is an </a:t>
            </a:r>
            <a:r>
              <a:rPr lang="en-IN" sz="2400" b="1" dirty="0"/>
              <a:t>SMS Spam Classifier</a:t>
            </a:r>
            <a:r>
              <a:rPr lang="en-IN" sz="2400" dirty="0"/>
              <a:t> that automatically classifies SMS messages into </a:t>
            </a:r>
            <a:r>
              <a:rPr lang="en-IN" sz="2400" b="1" dirty="0"/>
              <a:t>Spam or Ham</a:t>
            </a:r>
            <a:r>
              <a:rPr lang="en-IN" sz="2400" dirty="0"/>
              <a:t>. The system takes an SMS as input and first performs </a:t>
            </a:r>
            <a:r>
              <a:rPr lang="en-IN" sz="2400" b="1" dirty="0"/>
              <a:t>text preprocessing</a:t>
            </a:r>
            <a:r>
              <a:rPr lang="en-IN" sz="2400" dirty="0"/>
              <a:t> to clean and standardize the message. The cleaned text is then converted into numerical features using </a:t>
            </a:r>
            <a:r>
              <a:rPr lang="en-IN" sz="2400" b="1" dirty="0"/>
              <a:t>TF-IDF (Term Frequency–Inverse Document Frequency)</a:t>
            </a:r>
            <a:r>
              <a:rPr lang="en-IN" sz="2400" dirty="0"/>
              <a:t>, which helps represent important words in the message. These features are given to a </a:t>
            </a:r>
            <a:r>
              <a:rPr lang="en-IN" sz="2400" b="1" dirty="0"/>
              <a:t>Machine Learning classification model</a:t>
            </a:r>
            <a:r>
              <a:rPr lang="en-IN" sz="2400" dirty="0"/>
              <a:t>, specifically </a:t>
            </a:r>
            <a:r>
              <a:rPr lang="en-IN" sz="2400" b="1" dirty="0"/>
              <a:t>Multinomial Naive Bayes</a:t>
            </a:r>
            <a:r>
              <a:rPr lang="en-IN" sz="2400" dirty="0"/>
              <a:t>, which predicts whether the message is Spam or Ham. The overall process is </a:t>
            </a:r>
            <a:r>
              <a:rPr lang="en-IN" sz="2400" b="1" dirty="0"/>
              <a:t>SMS Input → Text Preprocessing → TF-IDF → ML Model → Spam / Ham</a:t>
            </a:r>
            <a:r>
              <a:rPr lang="en-IN" sz="2400" dirty="0"/>
              <a:t>. The system helps users identify unwanted and suspicious messages automatically, reduces manual checking, and improves message management. It also provides a practical application of </a:t>
            </a:r>
            <a:r>
              <a:rPr lang="en-IN" sz="2400" b="1" dirty="0"/>
              <a:t>Natural Language Processing and Machine Learning</a:t>
            </a:r>
            <a:r>
              <a:rPr lang="en-IN" sz="2400" dirty="0"/>
              <a:t> for SMS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347132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4DC6213-35A9-6FDB-A470-808EB8BE49AE}"/>
              </a:ext>
            </a:extLst>
          </p:cNvPr>
          <p:cNvSpPr/>
          <p:nvPr/>
        </p:nvSpPr>
        <p:spPr>
          <a:xfrm>
            <a:off x="2916194" y="320040"/>
            <a:ext cx="5980176" cy="59436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MODULES</a:t>
            </a:r>
            <a:endParaRPr sz="2400" b="1" dirty="0">
              <a:solidFill>
                <a:srgbClr val="FFFFFF"/>
              </a:solidFill>
              <a:latin typeface="Georgia"/>
            </a:endParaRP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E2B7FFC1-63DD-8736-3582-31CB1D72B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0189B1-3042-3C3E-D523-773C3ACBCF0C}"/>
              </a:ext>
            </a:extLst>
          </p:cNvPr>
          <p:cNvSpPr txBox="1"/>
          <p:nvPr/>
        </p:nvSpPr>
        <p:spPr>
          <a:xfrm>
            <a:off x="565323" y="982362"/>
            <a:ext cx="609805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MODULES</a:t>
            </a:r>
          </a:p>
          <a:p>
            <a:pPr>
              <a:buNone/>
            </a:pPr>
            <a:r>
              <a:rPr lang="en-IN" b="1" dirty="0"/>
              <a:t>1. Text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Converts SMS text into a clean and standard format.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Converts text to lowercase.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Removes </a:t>
            </a:r>
            <a:r>
              <a:rPr lang="en-IN" sz="2000" dirty="0"/>
              <a:t>unnecessary</a:t>
            </a:r>
            <a:r>
              <a:rPr lang="en-IN" dirty="0"/>
              <a:t> symbols and characters.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Prepares the text for further processing.</a:t>
            </a:r>
          </a:p>
          <a:p>
            <a:pPr>
              <a:buNone/>
            </a:pPr>
            <a:r>
              <a:rPr lang="en-IN" b="1" dirty="0"/>
              <a:t>2. Feature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TF-IDF (Term Frequency–Inverse Document Frequency)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Converts the processed SMS text into numerical feature vectors.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Identifies important words and patterns in the messages.</a:t>
            </a:r>
          </a:p>
          <a:p>
            <a:pPr>
              <a:buNone/>
            </a:pPr>
            <a:r>
              <a:rPr lang="en-IN" b="1" dirty="0"/>
              <a:t>3. Python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 is used to implement the NLP preprocessing and Machine Learning steps.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Libraries such as </a:t>
            </a:r>
            <a:r>
              <a:rPr lang="en-IN" b="1" dirty="0"/>
              <a:t>Pandas, Scikit-learn and NLTK</a:t>
            </a:r>
            <a:r>
              <a:rPr lang="en-IN" dirty="0"/>
              <a:t> can be used for data processing and text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processed data is given to the classification model for prediction.</a:t>
            </a:r>
          </a:p>
          <a:p>
            <a:pPr>
              <a:buNone/>
            </a:pPr>
            <a:r>
              <a:rPr lang="en-IN" b="1" dirty="0"/>
              <a:t>Overall Module Flow</a:t>
            </a:r>
          </a:p>
          <a:p>
            <a:pPr>
              <a:buNone/>
            </a:pPr>
            <a:r>
              <a:rPr lang="en-IN" b="1" dirty="0"/>
              <a:t>SMS Input → Preprocessing → Feature Extraction → ML Classification → Spam / Ham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91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5120759-3BBD-3CAD-641F-C34F09A8FBD0}"/>
              </a:ext>
            </a:extLst>
          </p:cNvPr>
          <p:cNvSpPr/>
          <p:nvPr/>
        </p:nvSpPr>
        <p:spPr>
          <a:xfrm>
            <a:off x="2916194" y="320040"/>
            <a:ext cx="5980176" cy="59436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NLP/ML ALGORITHM</a:t>
            </a:r>
            <a:endParaRPr sz="2400" b="1" dirty="0">
              <a:solidFill>
                <a:srgbClr val="FFFFFF"/>
              </a:solidFill>
              <a:latin typeface="Georgia"/>
            </a:endParaRP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8A29607-2716-AB86-142A-6483D2B8E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ACAD0-2938-89C1-81F5-0C875995DA3C}"/>
              </a:ext>
            </a:extLst>
          </p:cNvPr>
          <p:cNvSpPr txBox="1"/>
          <p:nvPr/>
        </p:nvSpPr>
        <p:spPr>
          <a:xfrm>
            <a:off x="696885" y="822298"/>
            <a:ext cx="609805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NLP ALGORITHM</a:t>
            </a:r>
          </a:p>
          <a:p>
            <a:pPr>
              <a:buNone/>
            </a:pPr>
            <a:r>
              <a:rPr lang="en-IN" b="1" dirty="0"/>
              <a:t>1. Text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Cleans the SMS text before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Converts text into a standard format.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Removes unnecessary symbols and characters.</a:t>
            </a:r>
          </a:p>
          <a:p>
            <a:pPr>
              <a:buNone/>
            </a:pPr>
            <a:r>
              <a:rPr lang="en-IN" b="1" dirty="0"/>
              <a:t>2. TF-IDF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TF-IDF (Term Frequency–Inverse Document Frequency)</a:t>
            </a:r>
            <a:r>
              <a:rPr lang="en-IN" dirty="0"/>
              <a:t> converts text into numerical feature vectors.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represents the importance of words in the SMS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These numerical features are used by the Machine Learning model.</a:t>
            </a:r>
          </a:p>
          <a:p>
            <a:pPr>
              <a:buNone/>
            </a:pPr>
            <a:r>
              <a:rPr lang="en-IN" b="1" dirty="0"/>
              <a:t>3. Multinomial Naive Bayes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supervised Machine Learning classification algorithm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is used to classify text into </a:t>
            </a:r>
            <a:r>
              <a:rPr lang="en-IN" b="1" dirty="0"/>
              <a:t>Spam</a:t>
            </a:r>
            <a:r>
              <a:rPr lang="en-IN" dirty="0"/>
              <a:t> or </a:t>
            </a:r>
            <a:r>
              <a:rPr lang="en-IN" b="1" dirty="0"/>
              <a:t>Ham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model learns patterns from labelled SMS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training, it predicts the category of a new SMS.</a:t>
            </a:r>
          </a:p>
          <a:p>
            <a:pPr>
              <a:buNone/>
            </a:pPr>
            <a:r>
              <a:rPr lang="en-IN" b="1" dirty="0"/>
              <a:t>Overall Process</a:t>
            </a:r>
          </a:p>
          <a:p>
            <a:pPr>
              <a:buNone/>
            </a:pPr>
            <a:r>
              <a:rPr lang="en-IN" b="1" dirty="0"/>
              <a:t>SMS → Preprocessing → TF-IDF → Multinomial Naive Bayes → Spam / Ham</a:t>
            </a:r>
            <a:endParaRPr lang="en-IN" dirty="0"/>
          </a:p>
          <a:p>
            <a:pPr>
              <a:buNone/>
            </a:pPr>
            <a:r>
              <a:rPr lang="en-IN" dirty="0"/>
              <a:t>This matches the NLP/ML section of the review structure you shared, while using the algorithm planned for your SMS Spam Classifier.</a:t>
            </a:r>
          </a:p>
        </p:txBody>
      </p:sp>
    </p:spTree>
    <p:extLst>
      <p:ext uri="{BB962C8B-B14F-4D97-AF65-F5344CB8AC3E}">
        <p14:creationId xmlns:p14="http://schemas.microsoft.com/office/powerpoint/2010/main" val="3115241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15F4B5E-258F-2C68-B746-8E7B8C84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4A2A0E-3A9C-0B85-3AB7-383C3537B56D}"/>
              </a:ext>
            </a:extLst>
          </p:cNvPr>
          <p:cNvSpPr/>
          <p:nvPr/>
        </p:nvSpPr>
        <p:spPr>
          <a:xfrm>
            <a:off x="2916194" y="320040"/>
            <a:ext cx="5980176" cy="59436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OUTPUT/RESULT</a:t>
            </a:r>
            <a:endParaRPr sz="24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40106-436E-3CB5-8F0A-544388CB5A62}"/>
              </a:ext>
            </a:extLst>
          </p:cNvPr>
          <p:cNvSpPr txBox="1"/>
          <p:nvPr/>
        </p:nvSpPr>
        <p:spPr>
          <a:xfrm>
            <a:off x="0" y="1051560"/>
            <a:ext cx="59801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OUTPUT / RESULT</a:t>
            </a:r>
          </a:p>
          <a:p>
            <a:pPr>
              <a:buNone/>
            </a:pPr>
            <a:r>
              <a:rPr lang="en-IN" dirty="0"/>
              <a:t>The developed SMS Spam Classifier takes an SMS message as input and predicts whether it is </a:t>
            </a:r>
            <a:r>
              <a:rPr lang="en-IN" b="1" dirty="0"/>
              <a:t>Spam</a:t>
            </a:r>
            <a:r>
              <a:rPr lang="en-IN" dirty="0"/>
              <a:t> or </a:t>
            </a:r>
            <a:r>
              <a:rPr lang="en-IN" b="1" dirty="0"/>
              <a:t>Ham</a:t>
            </a:r>
            <a:r>
              <a:rPr lang="en-IN" dirty="0"/>
              <a:t>.</a:t>
            </a:r>
          </a:p>
          <a:p>
            <a:r>
              <a:rPr lang="en-IN" dirty="0"/>
              <a:t>The input SMS is cleaned using text preprocessing techniques.</a:t>
            </a:r>
          </a:p>
          <a:p>
            <a:r>
              <a:rPr lang="en-IN" dirty="0"/>
              <a:t>The processed text is converted into numerical features using </a:t>
            </a:r>
            <a:r>
              <a:rPr lang="en-IN" b="1" dirty="0"/>
              <a:t>TF-IDF</a:t>
            </a:r>
            <a:r>
              <a:rPr lang="en-IN" dirty="0"/>
              <a:t>.</a:t>
            </a:r>
          </a:p>
          <a:p>
            <a:r>
              <a:rPr lang="en-IN" dirty="0"/>
              <a:t>The trained </a:t>
            </a:r>
            <a:r>
              <a:rPr lang="en-IN" b="1" dirty="0"/>
              <a:t>Multinomial Naive Bayes</a:t>
            </a:r>
            <a:r>
              <a:rPr lang="en-IN" dirty="0"/>
              <a:t> model classifies the message.</a:t>
            </a:r>
          </a:p>
          <a:p>
            <a:r>
              <a:rPr lang="en-IN" dirty="0"/>
              <a:t>The final output is displayed as </a:t>
            </a:r>
            <a:r>
              <a:rPr lang="en-IN" b="1" dirty="0"/>
              <a:t>SPAM</a:t>
            </a:r>
            <a:r>
              <a:rPr lang="en-IN" dirty="0"/>
              <a:t> or </a:t>
            </a:r>
            <a:r>
              <a:rPr lang="en-IN" b="1" dirty="0"/>
              <a:t>HAM</a:t>
            </a:r>
            <a:r>
              <a:rPr lang="en-IN" dirty="0"/>
              <a:t>.</a:t>
            </a:r>
          </a:p>
          <a:p>
            <a:r>
              <a:rPr lang="en-IN" dirty="0"/>
              <a:t>The model performance can be evaluated using </a:t>
            </a:r>
            <a:r>
              <a:rPr lang="en-IN" b="1" dirty="0"/>
              <a:t>Accuracy, Precision, Recall and F1-Score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Sample Output</a:t>
            </a:r>
          </a:p>
          <a:p>
            <a:pPr>
              <a:buNone/>
            </a:pPr>
            <a:r>
              <a:rPr lang="en-IN" b="1" dirty="0"/>
              <a:t>Input:</a:t>
            </a:r>
            <a:br>
              <a:rPr lang="en-IN" dirty="0"/>
            </a:br>
            <a:r>
              <a:rPr lang="en-IN" dirty="0"/>
              <a:t>“Congratulations! You won a free prize. Claim now!”</a:t>
            </a:r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</a:t>
            </a:r>
            <a:r>
              <a:rPr lang="en-IN" b="1" dirty="0"/>
              <a:t>SPAM</a:t>
            </a:r>
            <a:endParaRPr lang="en-IN" dirty="0"/>
          </a:p>
          <a:p>
            <a:pPr>
              <a:buNone/>
            </a:pPr>
            <a:r>
              <a:rPr lang="en-IN" b="1" dirty="0"/>
              <a:t>Input:</a:t>
            </a:r>
            <a:br>
              <a:rPr lang="en-IN" dirty="0"/>
            </a:br>
            <a:r>
              <a:rPr lang="en-IN" dirty="0"/>
              <a:t>“Hi, I will come to college at 10 AM.”</a:t>
            </a:r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</a:t>
            </a:r>
            <a:r>
              <a:rPr lang="en-IN" b="1" dirty="0"/>
              <a:t>HAM</a:t>
            </a:r>
            <a:endParaRPr lang="en-IN" dirty="0"/>
          </a:p>
          <a:p>
            <a:pPr>
              <a:buNone/>
            </a:pPr>
            <a:r>
              <a:rPr lang="en-IN" b="1" dirty="0"/>
              <a:t>Note:</a:t>
            </a:r>
            <a:r>
              <a:rPr lang="en-IN" dirty="0"/>
              <a:t> Actual accuracy/result values should be added after running your final project; we shouldn't put a guessed accuracy in the PPT.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AB0AC7-1F94-C0A3-BBE1-80708009D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586" y="1161288"/>
            <a:ext cx="5861304" cy="562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0" y="310896"/>
            <a:ext cx="5980176" cy="59436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35024"/>
            <a:ext cx="8229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the classifier using advanced NLP and Machine Learning models.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Detect phishing messages and malicious links.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Support real-time SMS filtering and automatic spam detection.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Extend the system to detect spam emails.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a web or mobile application for easy access.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Support multiple languages for better spam detection.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Continuously update and retrain the model using newly labelled messages.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 user feedback to improve the accuracy of the classifier.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373737"/>
                </a:solidFill>
                <a:latin typeface="Georgia"/>
              </a:defRPr>
            </a:pP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0" y="310896"/>
            <a:ext cx="5980176" cy="594360"/>
          </a:xfrm>
          <a:prstGeom prst="roundRect">
            <a:avLst/>
          </a:prstGeom>
          <a:solidFill>
            <a:srgbClr val="F46A00"/>
          </a:solidFill>
          <a:ln>
            <a:solidFill>
              <a:srgbClr val="F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8229600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73737"/>
                </a:solidFill>
                <a:latin typeface="Georgia"/>
              </a:defRPr>
            </a:pPr>
            <a:r>
              <a:rPr sz="2800" dirty="0"/>
              <a:t>• SMS Spam Classifier combines NLP and Machine Learning for text classification.</a:t>
            </a:r>
          </a:p>
          <a:p>
            <a:pPr>
              <a:spcAft>
                <a:spcPts val="600"/>
              </a:spcAft>
              <a:defRPr sz="1700">
                <a:solidFill>
                  <a:srgbClr val="373737"/>
                </a:solidFill>
                <a:latin typeface="Georgia"/>
              </a:defRPr>
            </a:pPr>
            <a:r>
              <a:rPr sz="2800" dirty="0"/>
              <a:t>• Preprocessing prepares raw SMS messages for analysis.</a:t>
            </a:r>
          </a:p>
          <a:p>
            <a:pPr>
              <a:spcAft>
                <a:spcPts val="600"/>
              </a:spcAft>
              <a:defRPr sz="1700">
                <a:solidFill>
                  <a:srgbClr val="373737"/>
                </a:solidFill>
                <a:latin typeface="Georgia"/>
              </a:defRPr>
            </a:pPr>
            <a:r>
              <a:rPr sz="2800" dirty="0"/>
              <a:t>• TF-IDF converts text into numerical features.</a:t>
            </a:r>
          </a:p>
          <a:p>
            <a:pPr>
              <a:spcAft>
                <a:spcPts val="600"/>
              </a:spcAft>
              <a:defRPr sz="1700">
                <a:solidFill>
                  <a:srgbClr val="373737"/>
                </a:solidFill>
                <a:latin typeface="Georgia"/>
              </a:defRPr>
            </a:pPr>
            <a:r>
              <a:rPr sz="2800" dirty="0"/>
              <a:t>• Multinomial Naive Bayes performs Spam/Ham classification.</a:t>
            </a:r>
          </a:p>
          <a:p>
            <a:pPr>
              <a:spcAft>
                <a:spcPts val="600"/>
              </a:spcAft>
              <a:defRPr sz="1700">
                <a:solidFill>
                  <a:srgbClr val="373737"/>
                </a:solidFill>
                <a:latin typeface="Georgia"/>
              </a:defRPr>
            </a:pPr>
            <a:r>
              <a:rPr sz="2800" dirty="0"/>
              <a:t>• The system can automatically classify new SMS messages.</a:t>
            </a:r>
          </a:p>
          <a:p>
            <a:pPr>
              <a:spcAft>
                <a:spcPts val="600"/>
              </a:spcAft>
              <a:defRPr sz="1700">
                <a:solidFill>
                  <a:srgbClr val="373737"/>
                </a:solidFill>
                <a:latin typeface="Georgia"/>
              </a:defRPr>
            </a:pPr>
            <a:r>
              <a:rPr sz="2800" dirty="0"/>
              <a:t>• The project demonstrates a practical NLP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057400" cy="868680"/>
          </a:xfrm>
          <a:prstGeom prst="rect">
            <a:avLst/>
          </a:prstGeom>
        </p:spPr>
      </p:pic>
      <p:pic>
        <p:nvPicPr>
          <p:cNvPr id="7" name="Picture 6" descr="Why thank you matters more than money">
            <a:extLst>
              <a:ext uri="{FF2B5EF4-FFF2-40B4-BE49-F238E27FC236}">
                <a16:creationId xmlns:a16="http://schemas.microsoft.com/office/drawing/2014/main" id="{C3FC77B0-6FFE-F8BF-4296-CEE4C90F6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619" y="1508438"/>
            <a:ext cx="9141714" cy="3841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1112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sairahul raj</cp:lastModifiedBy>
  <cp:revision>6</cp:revision>
  <dcterms:created xsi:type="dcterms:W3CDTF">2013-01-27T09:14:16Z</dcterms:created>
  <dcterms:modified xsi:type="dcterms:W3CDTF">2026-10-01T09:55:58Z</dcterms:modified>
  <cp:category/>
</cp:coreProperties>
</file>